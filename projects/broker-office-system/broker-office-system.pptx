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65" autoAdjust="0"/>
  </p:normalViewPr>
  <p:slideViewPr>
    <p:cSldViewPr>
      <p:cViewPr varScale="1">
        <p:scale>
          <a:sx n="61" d="100"/>
          <a:sy n="61" d="100"/>
        </p:scale>
        <p:origin x="-1416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B207D0-38A2-4841-8041-A5F307C2A596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61F99C-CB59-440E-A53E-9D0CF6B3ECF9}">
      <dgm:prSet phldrT="[Text]"/>
      <dgm:spPr/>
      <dgm:t>
        <a:bodyPr/>
        <a:lstStyle/>
        <a:p>
          <a:r>
            <a:rPr lang="en-US" dirty="0" smtClean="0"/>
            <a:t>System Architecture</a:t>
          </a:r>
          <a:endParaRPr lang="en-US" dirty="0"/>
        </a:p>
      </dgm:t>
    </dgm:pt>
    <dgm:pt modelId="{2DE2C2B5-F617-4C0F-8E18-5EC4A5C21F32}" type="parTrans" cxnId="{9CAE2804-72C3-4DA6-B95C-4D2C3036CDC9}">
      <dgm:prSet/>
      <dgm:spPr/>
      <dgm:t>
        <a:bodyPr/>
        <a:lstStyle/>
        <a:p>
          <a:endParaRPr lang="en-US"/>
        </a:p>
      </dgm:t>
    </dgm:pt>
    <dgm:pt modelId="{C2726603-156B-4D29-A35B-6890EF9F74AC}" type="sibTrans" cxnId="{9CAE2804-72C3-4DA6-B95C-4D2C3036CDC9}">
      <dgm:prSet/>
      <dgm:spPr/>
      <dgm:t>
        <a:bodyPr/>
        <a:lstStyle/>
        <a:p>
          <a:endParaRPr lang="en-US"/>
        </a:p>
      </dgm:t>
    </dgm:pt>
    <dgm:pt modelId="{3A402988-C945-46C2-8629-01E03976E397}">
      <dgm:prSet phldrT="[Text]"/>
      <dgm:spPr/>
      <dgm:t>
        <a:bodyPr/>
        <a:lstStyle/>
        <a:p>
          <a:r>
            <a:rPr lang="en-US" dirty="0" smtClean="0"/>
            <a:t>User Interface(Java Swing)</a:t>
          </a:r>
          <a:endParaRPr lang="en-US" dirty="0"/>
        </a:p>
      </dgm:t>
    </dgm:pt>
    <dgm:pt modelId="{AF971B88-B0D9-412F-ABFA-09D5402400DD}" type="parTrans" cxnId="{12452630-CF1A-4286-90A2-920F77C2FA11}">
      <dgm:prSet/>
      <dgm:spPr/>
      <dgm:t>
        <a:bodyPr/>
        <a:lstStyle/>
        <a:p>
          <a:endParaRPr lang="en-US"/>
        </a:p>
      </dgm:t>
    </dgm:pt>
    <dgm:pt modelId="{222BA7C9-6AB7-41BA-9790-5E10449D9BAC}" type="sibTrans" cxnId="{12452630-CF1A-4286-90A2-920F77C2FA11}">
      <dgm:prSet/>
      <dgm:spPr/>
      <dgm:t>
        <a:bodyPr/>
        <a:lstStyle/>
        <a:p>
          <a:endParaRPr lang="en-US"/>
        </a:p>
      </dgm:t>
    </dgm:pt>
    <dgm:pt modelId="{07985F7B-A952-42CD-BBBD-D832A204B0A9}">
      <dgm:prSet phldrT="[Text]"/>
      <dgm:spPr/>
      <dgm:t>
        <a:bodyPr/>
        <a:lstStyle/>
        <a:p>
          <a:r>
            <a:rPr lang="en-US" dirty="0" smtClean="0"/>
            <a:t>Database (MySQL Server </a:t>
          </a:r>
          <a:endParaRPr lang="en-US" dirty="0"/>
        </a:p>
      </dgm:t>
    </dgm:pt>
    <dgm:pt modelId="{34C5E3CC-BC97-4E5B-A833-B1DDA85CD542}" type="parTrans" cxnId="{429524CB-934A-423A-B2FC-14FE8C87A84F}">
      <dgm:prSet/>
      <dgm:spPr/>
      <dgm:t>
        <a:bodyPr/>
        <a:lstStyle/>
        <a:p>
          <a:endParaRPr lang="en-US"/>
        </a:p>
      </dgm:t>
    </dgm:pt>
    <dgm:pt modelId="{04CC3C99-4276-4535-982A-01967699225E}" type="sibTrans" cxnId="{429524CB-934A-423A-B2FC-14FE8C87A84F}">
      <dgm:prSet/>
      <dgm:spPr/>
      <dgm:t>
        <a:bodyPr/>
        <a:lstStyle/>
        <a:p>
          <a:endParaRPr lang="en-US"/>
        </a:p>
      </dgm:t>
    </dgm:pt>
    <dgm:pt modelId="{9F4B25AE-2BDB-4509-A6D5-322D2C53A11A}">
      <dgm:prSet phldrT="[Text]"/>
      <dgm:spPr/>
      <dgm:t>
        <a:bodyPr/>
        <a:lstStyle/>
        <a:p>
          <a:r>
            <a:rPr lang="en-US" dirty="0" smtClean="0"/>
            <a:t>Application Logic (Java class and JDBC Driver)</a:t>
          </a:r>
          <a:endParaRPr lang="en-US" dirty="0"/>
        </a:p>
      </dgm:t>
    </dgm:pt>
    <dgm:pt modelId="{ED46B662-9F47-479D-ABB0-3BEC64D6A866}" type="parTrans" cxnId="{6566B97B-9585-448D-9391-717012386A7D}">
      <dgm:prSet/>
      <dgm:spPr/>
      <dgm:t>
        <a:bodyPr/>
        <a:lstStyle/>
        <a:p>
          <a:endParaRPr lang="en-US"/>
        </a:p>
      </dgm:t>
    </dgm:pt>
    <dgm:pt modelId="{CB8241D0-64B5-44EE-917D-671C47FEFB0D}" type="sibTrans" cxnId="{6566B97B-9585-448D-9391-717012386A7D}">
      <dgm:prSet/>
      <dgm:spPr/>
      <dgm:t>
        <a:bodyPr/>
        <a:lstStyle/>
        <a:p>
          <a:endParaRPr lang="en-US"/>
        </a:p>
      </dgm:t>
    </dgm:pt>
    <dgm:pt modelId="{758EE618-F9BE-405A-B03E-0727A541294F}" type="pres">
      <dgm:prSet presAssocID="{10B207D0-38A2-4841-8041-A5F307C2A59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4F899AEC-D2AC-4689-84B4-4A1748D4D3A1}" type="pres">
      <dgm:prSet presAssocID="{3861F99C-CB59-440E-A53E-9D0CF6B3ECF9}" presName="singleCycle" presStyleCnt="0"/>
      <dgm:spPr/>
    </dgm:pt>
    <dgm:pt modelId="{5FB01116-B1A0-4AD6-97C6-1C17E21CE37B}" type="pres">
      <dgm:prSet presAssocID="{3861F99C-CB59-440E-A53E-9D0CF6B3ECF9}" presName="singleCenter" presStyleLbl="node1" presStyleIdx="0" presStyleCnt="4" custScaleX="164722" custScaleY="116859" custLinFactNeighborX="1937" custLinFactNeighborY="-9253">
        <dgm:presLayoutVars>
          <dgm:chMax val="7"/>
          <dgm:chPref val="7"/>
        </dgm:presLayoutVars>
      </dgm:prSet>
      <dgm:spPr/>
      <dgm:t>
        <a:bodyPr/>
        <a:lstStyle/>
        <a:p>
          <a:endParaRPr lang="en-US"/>
        </a:p>
      </dgm:t>
    </dgm:pt>
    <dgm:pt modelId="{A24F5EEA-707B-4691-B03F-A530F57EC01F}" type="pres">
      <dgm:prSet presAssocID="{AF971B88-B0D9-412F-ABFA-09D5402400DD}" presName="Name56" presStyleLbl="parChTrans1D2" presStyleIdx="0" presStyleCnt="3"/>
      <dgm:spPr/>
      <dgm:t>
        <a:bodyPr/>
        <a:lstStyle/>
        <a:p>
          <a:endParaRPr lang="en-US"/>
        </a:p>
      </dgm:t>
    </dgm:pt>
    <dgm:pt modelId="{9C231CBB-2655-4B08-9F04-751F03D2182F}" type="pres">
      <dgm:prSet presAssocID="{3A402988-C945-46C2-8629-01E03976E397}" presName="text0" presStyleLbl="node1" presStyleIdx="1" presStyleCnt="4" custScaleX="198056" custScaleY="16757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0C8918-81D7-4A01-8582-316198F581AD}" type="pres">
      <dgm:prSet presAssocID="{34C5E3CC-BC97-4E5B-A833-B1DDA85CD542}" presName="Name56" presStyleLbl="parChTrans1D2" presStyleIdx="1" presStyleCnt="3"/>
      <dgm:spPr/>
      <dgm:t>
        <a:bodyPr/>
        <a:lstStyle/>
        <a:p>
          <a:endParaRPr lang="en-US"/>
        </a:p>
      </dgm:t>
    </dgm:pt>
    <dgm:pt modelId="{168BA265-96A5-4113-AAAD-99A42B6BC625}" type="pres">
      <dgm:prSet presAssocID="{07985F7B-A952-42CD-BBBD-D832A204B0A9}" presName="text0" presStyleLbl="node1" presStyleIdx="2" presStyleCnt="4" custScaleX="228378" custScaleY="12894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34C6DF-CCBB-4E18-B8FE-BF53FF943508}" type="pres">
      <dgm:prSet presAssocID="{ED46B662-9F47-479D-ABB0-3BEC64D6A866}" presName="Name56" presStyleLbl="parChTrans1D2" presStyleIdx="2" presStyleCnt="3"/>
      <dgm:spPr/>
      <dgm:t>
        <a:bodyPr/>
        <a:lstStyle/>
        <a:p>
          <a:endParaRPr lang="en-US"/>
        </a:p>
      </dgm:t>
    </dgm:pt>
    <dgm:pt modelId="{39A492BD-C27E-4A1C-9DB1-BCB934652E3A}" type="pres">
      <dgm:prSet presAssocID="{9F4B25AE-2BDB-4509-A6D5-322D2C53A11A}" presName="text0" presStyleLbl="node1" presStyleIdx="3" presStyleCnt="4" custScaleX="225632" custScaleY="12510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2452630-CF1A-4286-90A2-920F77C2FA11}" srcId="{3861F99C-CB59-440E-A53E-9D0CF6B3ECF9}" destId="{3A402988-C945-46C2-8629-01E03976E397}" srcOrd="0" destOrd="0" parTransId="{AF971B88-B0D9-412F-ABFA-09D5402400DD}" sibTransId="{222BA7C9-6AB7-41BA-9790-5E10449D9BAC}"/>
    <dgm:cxn modelId="{85E394ED-F62D-4561-AF3B-916080CA4967}" type="presOf" srcId="{34C5E3CC-BC97-4E5B-A833-B1DDA85CD542}" destId="{700C8918-81D7-4A01-8582-316198F581AD}" srcOrd="0" destOrd="0" presId="urn:microsoft.com/office/officeart/2008/layout/RadialCluster"/>
    <dgm:cxn modelId="{CCEC9553-2E12-4CED-B00F-FB5DBE9B1A76}" type="presOf" srcId="{3861F99C-CB59-440E-A53E-9D0CF6B3ECF9}" destId="{5FB01116-B1A0-4AD6-97C6-1C17E21CE37B}" srcOrd="0" destOrd="0" presId="urn:microsoft.com/office/officeart/2008/layout/RadialCluster"/>
    <dgm:cxn modelId="{419C2BDB-AA1C-48C1-AFC6-D5B51332E1D7}" type="presOf" srcId="{9F4B25AE-2BDB-4509-A6D5-322D2C53A11A}" destId="{39A492BD-C27E-4A1C-9DB1-BCB934652E3A}" srcOrd="0" destOrd="0" presId="urn:microsoft.com/office/officeart/2008/layout/RadialCluster"/>
    <dgm:cxn modelId="{380841B9-E969-40BA-AAEE-CE10DA9960F5}" type="presOf" srcId="{ED46B662-9F47-479D-ABB0-3BEC64D6A866}" destId="{F234C6DF-CCBB-4E18-B8FE-BF53FF943508}" srcOrd="0" destOrd="0" presId="urn:microsoft.com/office/officeart/2008/layout/RadialCluster"/>
    <dgm:cxn modelId="{62BDDE82-88A9-4ACC-95E7-E7061D6626C4}" type="presOf" srcId="{10B207D0-38A2-4841-8041-A5F307C2A596}" destId="{758EE618-F9BE-405A-B03E-0727A541294F}" srcOrd="0" destOrd="0" presId="urn:microsoft.com/office/officeart/2008/layout/RadialCluster"/>
    <dgm:cxn modelId="{EAC0FEC0-98E9-4167-8048-710FFA4CB7DB}" type="presOf" srcId="{3A402988-C945-46C2-8629-01E03976E397}" destId="{9C231CBB-2655-4B08-9F04-751F03D2182F}" srcOrd="0" destOrd="0" presId="urn:microsoft.com/office/officeart/2008/layout/RadialCluster"/>
    <dgm:cxn modelId="{429524CB-934A-423A-B2FC-14FE8C87A84F}" srcId="{3861F99C-CB59-440E-A53E-9D0CF6B3ECF9}" destId="{07985F7B-A952-42CD-BBBD-D832A204B0A9}" srcOrd="1" destOrd="0" parTransId="{34C5E3CC-BC97-4E5B-A833-B1DDA85CD542}" sibTransId="{04CC3C99-4276-4535-982A-01967699225E}"/>
    <dgm:cxn modelId="{9CAE2804-72C3-4DA6-B95C-4D2C3036CDC9}" srcId="{10B207D0-38A2-4841-8041-A5F307C2A596}" destId="{3861F99C-CB59-440E-A53E-9D0CF6B3ECF9}" srcOrd="0" destOrd="0" parTransId="{2DE2C2B5-F617-4C0F-8E18-5EC4A5C21F32}" sibTransId="{C2726603-156B-4D29-A35B-6890EF9F74AC}"/>
    <dgm:cxn modelId="{203898FD-E470-4DA8-B09B-DE41B27C269C}" type="presOf" srcId="{07985F7B-A952-42CD-BBBD-D832A204B0A9}" destId="{168BA265-96A5-4113-AAAD-99A42B6BC625}" srcOrd="0" destOrd="0" presId="urn:microsoft.com/office/officeart/2008/layout/RadialCluster"/>
    <dgm:cxn modelId="{33DBA00F-9899-43C6-B0A2-B790C0563EED}" type="presOf" srcId="{AF971B88-B0D9-412F-ABFA-09D5402400DD}" destId="{A24F5EEA-707B-4691-B03F-A530F57EC01F}" srcOrd="0" destOrd="0" presId="urn:microsoft.com/office/officeart/2008/layout/RadialCluster"/>
    <dgm:cxn modelId="{6566B97B-9585-448D-9391-717012386A7D}" srcId="{3861F99C-CB59-440E-A53E-9D0CF6B3ECF9}" destId="{9F4B25AE-2BDB-4509-A6D5-322D2C53A11A}" srcOrd="2" destOrd="0" parTransId="{ED46B662-9F47-479D-ABB0-3BEC64D6A866}" sibTransId="{CB8241D0-64B5-44EE-917D-671C47FEFB0D}"/>
    <dgm:cxn modelId="{E050A393-2A0B-48F6-B1F4-FB60A4116248}" type="presParOf" srcId="{758EE618-F9BE-405A-B03E-0727A541294F}" destId="{4F899AEC-D2AC-4689-84B4-4A1748D4D3A1}" srcOrd="0" destOrd="0" presId="urn:microsoft.com/office/officeart/2008/layout/RadialCluster"/>
    <dgm:cxn modelId="{395B12FD-E46D-42EA-9BBF-BB0D6F460BAE}" type="presParOf" srcId="{4F899AEC-D2AC-4689-84B4-4A1748D4D3A1}" destId="{5FB01116-B1A0-4AD6-97C6-1C17E21CE37B}" srcOrd="0" destOrd="0" presId="urn:microsoft.com/office/officeart/2008/layout/RadialCluster"/>
    <dgm:cxn modelId="{2C98C4E9-500E-48B3-8345-06D345694D80}" type="presParOf" srcId="{4F899AEC-D2AC-4689-84B4-4A1748D4D3A1}" destId="{A24F5EEA-707B-4691-B03F-A530F57EC01F}" srcOrd="1" destOrd="0" presId="urn:microsoft.com/office/officeart/2008/layout/RadialCluster"/>
    <dgm:cxn modelId="{40E809F8-E883-48A6-9D06-E24CB5CBD12A}" type="presParOf" srcId="{4F899AEC-D2AC-4689-84B4-4A1748D4D3A1}" destId="{9C231CBB-2655-4B08-9F04-751F03D2182F}" srcOrd="2" destOrd="0" presId="urn:microsoft.com/office/officeart/2008/layout/RadialCluster"/>
    <dgm:cxn modelId="{BDD03451-0472-427F-ABA3-E455AF86012D}" type="presParOf" srcId="{4F899AEC-D2AC-4689-84B4-4A1748D4D3A1}" destId="{700C8918-81D7-4A01-8582-316198F581AD}" srcOrd="3" destOrd="0" presId="urn:microsoft.com/office/officeart/2008/layout/RadialCluster"/>
    <dgm:cxn modelId="{BDAED9B3-EA66-4E01-89FF-14D96BD6EE75}" type="presParOf" srcId="{4F899AEC-D2AC-4689-84B4-4A1748D4D3A1}" destId="{168BA265-96A5-4113-AAAD-99A42B6BC625}" srcOrd="4" destOrd="0" presId="urn:microsoft.com/office/officeart/2008/layout/RadialCluster"/>
    <dgm:cxn modelId="{062143CB-9362-4263-8130-A8C76AE0EB6E}" type="presParOf" srcId="{4F899AEC-D2AC-4689-84B4-4A1748D4D3A1}" destId="{F234C6DF-CCBB-4E18-B8FE-BF53FF943508}" srcOrd="5" destOrd="0" presId="urn:microsoft.com/office/officeart/2008/layout/RadialCluster"/>
    <dgm:cxn modelId="{FEB2FBC9-C50C-43D4-B2C6-01104D01F5C6}" type="presParOf" srcId="{4F899AEC-D2AC-4689-84B4-4A1748D4D3A1}" destId="{39A492BD-C27E-4A1C-9DB1-BCB934652E3A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01116-B1A0-4AD6-97C6-1C17E21CE37B}">
      <dsp:nvSpPr>
        <dsp:cNvPr id="0" name=""/>
        <dsp:cNvSpPr/>
      </dsp:nvSpPr>
      <dsp:spPr>
        <a:xfrm>
          <a:off x="3206171" y="1473855"/>
          <a:ext cx="1947100" cy="13813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System Architecture</a:t>
          </a:r>
          <a:endParaRPr lang="en-US" sz="2500" kern="1200" dirty="0"/>
        </a:p>
      </dsp:txBody>
      <dsp:txXfrm>
        <a:off x="3273602" y="1541286"/>
        <a:ext cx="1812238" cy="1246472"/>
      </dsp:txXfrm>
    </dsp:sp>
    <dsp:sp modelId="{A24F5EEA-707B-4691-B03F-A530F57EC01F}">
      <dsp:nvSpPr>
        <dsp:cNvPr id="0" name=""/>
        <dsp:cNvSpPr/>
      </dsp:nvSpPr>
      <dsp:spPr>
        <a:xfrm rot="16036702">
          <a:off x="4080916" y="1410944"/>
          <a:ext cx="12596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5963" y="0"/>
              </a:lnTo>
            </a:path>
          </a:pathLst>
        </a:custGeom>
        <a:noFill/>
        <a:ln w="48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231CBB-2655-4B08-9F04-751F03D2182F}">
      <dsp:nvSpPr>
        <dsp:cNvPr id="0" name=""/>
        <dsp:cNvSpPr/>
      </dsp:nvSpPr>
      <dsp:spPr>
        <a:xfrm>
          <a:off x="3325085" y="20865"/>
          <a:ext cx="1568554" cy="13271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User Interface(Java Swing)</a:t>
          </a:r>
          <a:endParaRPr lang="en-US" sz="1800" kern="1200" dirty="0"/>
        </a:p>
      </dsp:txBody>
      <dsp:txXfrm>
        <a:off x="3389872" y="85652"/>
        <a:ext cx="1438980" cy="1197594"/>
      </dsp:txXfrm>
    </dsp:sp>
    <dsp:sp modelId="{700C8918-81D7-4A01-8582-316198F581AD}">
      <dsp:nvSpPr>
        <dsp:cNvPr id="0" name=""/>
        <dsp:cNvSpPr/>
      </dsp:nvSpPr>
      <dsp:spPr>
        <a:xfrm rot="2377652">
          <a:off x="5006046" y="2876651"/>
          <a:ext cx="6729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7298" y="0"/>
              </a:lnTo>
            </a:path>
          </a:pathLst>
        </a:custGeom>
        <a:noFill/>
        <a:ln w="48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8BA265-96A5-4113-AAAD-99A42B6BC625}">
      <dsp:nvSpPr>
        <dsp:cNvPr id="0" name=""/>
        <dsp:cNvSpPr/>
      </dsp:nvSpPr>
      <dsp:spPr>
        <a:xfrm>
          <a:off x="4777867" y="2898112"/>
          <a:ext cx="1808697" cy="10211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Database (MySQL Server </a:t>
          </a:r>
          <a:endParaRPr lang="en-US" sz="2000" kern="1200" dirty="0"/>
        </a:p>
      </dsp:txBody>
      <dsp:txXfrm>
        <a:off x="4827718" y="2947963"/>
        <a:ext cx="1708995" cy="921494"/>
      </dsp:txXfrm>
    </dsp:sp>
    <dsp:sp modelId="{F234C6DF-CCBB-4E18-B8FE-BF53FF943508}">
      <dsp:nvSpPr>
        <dsp:cNvPr id="0" name=""/>
        <dsp:cNvSpPr/>
      </dsp:nvSpPr>
      <dsp:spPr>
        <a:xfrm rot="8572088">
          <a:off x="3181029" y="2884250"/>
          <a:ext cx="96282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6282" y="0"/>
              </a:lnTo>
            </a:path>
          </a:pathLst>
        </a:custGeom>
        <a:noFill/>
        <a:ln w="48000" cap="flat" cmpd="thickThin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A492BD-C27E-4A1C-9DB1-BCB934652E3A}">
      <dsp:nvSpPr>
        <dsp:cNvPr id="0" name=""/>
        <dsp:cNvSpPr/>
      </dsp:nvSpPr>
      <dsp:spPr>
        <a:xfrm>
          <a:off x="1643035" y="2913310"/>
          <a:ext cx="1786949" cy="990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Application Logic (Java class and JDBC Driver)</a:t>
          </a:r>
          <a:endParaRPr lang="en-US" sz="1800" kern="1200" dirty="0"/>
        </a:p>
      </dsp:txBody>
      <dsp:txXfrm>
        <a:off x="1691402" y="2961677"/>
        <a:ext cx="1690215" cy="8940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C06CA9B1-A9C5-45B9-A47A-C929FFEA6A2A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33BFD90-2221-4A6C-9CF7-AE22927492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200400"/>
            <a:ext cx="8077200" cy="190195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Broker office system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College of Engineering</a:t>
            </a:r>
          </a:p>
          <a:p>
            <a:r>
              <a:rPr lang="en-US" dirty="0" smtClean="0"/>
              <a:t>Department of Electrical and Computer Engineering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33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 of the </a:t>
            </a:r>
            <a:r>
              <a:rPr lang="en-US" dirty="0" smtClean="0"/>
              <a:t>Project</a:t>
            </a:r>
            <a:r>
              <a:rPr lang="en-US" b="0" dirty="0"/>
              <a:t/>
            </a:r>
            <a:br>
              <a:rPr lang="en-US" b="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The Current Scenario:</a:t>
            </a:r>
            <a:r>
              <a:rPr lang="en-US" dirty="0"/>
              <a:t> Real estate and vehicle brokerage in Ethiopia relies heavily on manual systems (paper logbooks, phone calls, and Excel sheets).</a:t>
            </a:r>
          </a:p>
          <a:p>
            <a:r>
              <a:rPr lang="en-US" b="1" dirty="0"/>
              <a:t>The Challenge:</a:t>
            </a:r>
            <a:r>
              <a:rPr lang="en-US" dirty="0"/>
              <a:t> As business grows, tracking hundreds of houses and customers manually becomes impossible.</a:t>
            </a:r>
          </a:p>
          <a:p>
            <a:r>
              <a:rPr lang="en-US" b="1" dirty="0"/>
              <a:t>The Solution:</a:t>
            </a:r>
            <a:r>
              <a:rPr lang="en-US" dirty="0"/>
              <a:t> The </a:t>
            </a:r>
            <a:r>
              <a:rPr lang="en-US" b="1" dirty="0"/>
              <a:t>"Group 4 Broker System"</a:t>
            </a:r>
            <a:r>
              <a:rPr lang="en-US" dirty="0"/>
              <a:t> is a centralized Desktop Application designed to digitize these operations.</a:t>
            </a:r>
          </a:p>
          <a:p>
            <a:r>
              <a:rPr lang="en-US" b="1" dirty="0"/>
              <a:t>Core Function:</a:t>
            </a:r>
            <a:r>
              <a:rPr lang="en-US" dirty="0"/>
              <a:t> It connects </a:t>
            </a:r>
            <a:r>
              <a:rPr lang="en-US" b="1" dirty="0"/>
              <a:t>Admins</a:t>
            </a:r>
            <a:r>
              <a:rPr lang="en-US" dirty="0"/>
              <a:t> (Owners), </a:t>
            </a:r>
            <a:r>
              <a:rPr lang="en-US" b="1" dirty="0"/>
              <a:t>Brokers</a:t>
            </a:r>
            <a:r>
              <a:rPr lang="en-US" dirty="0"/>
              <a:t> (Staff), and </a:t>
            </a:r>
            <a:r>
              <a:rPr lang="en-US" b="1" dirty="0"/>
              <a:t>Customers</a:t>
            </a:r>
            <a:r>
              <a:rPr lang="en-US" dirty="0"/>
              <a:t> through a shared digital platform using Java and MySQL.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90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Statement of the Problem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 identified five critical issues in the traditional brokerage workflow:</a:t>
            </a:r>
          </a:p>
          <a:p>
            <a:r>
              <a:rPr lang="en-US" b="1" dirty="0"/>
              <a:t>Data Redundancy:</a:t>
            </a:r>
            <a:r>
              <a:rPr lang="en-US" dirty="0"/>
              <a:t> Customer info is often duplicated or lost in paper piles.</a:t>
            </a:r>
          </a:p>
          <a:p>
            <a:r>
              <a:rPr lang="en-US" b="1" dirty="0"/>
              <a:t>Time Inefficiency:</a:t>
            </a:r>
            <a:r>
              <a:rPr lang="en-US" dirty="0"/>
              <a:t> Searching for a specific "Rental Villa" takes minutes of flipping through pages.</a:t>
            </a:r>
          </a:p>
          <a:p>
            <a:r>
              <a:rPr lang="en-US" b="1" dirty="0"/>
              <a:t>Lack of Visuals:</a:t>
            </a:r>
            <a:r>
              <a:rPr lang="en-US" dirty="0"/>
              <a:t> Customers cannot see the item without traveling to the physical location.</a:t>
            </a:r>
          </a:p>
          <a:p>
            <a:r>
              <a:rPr lang="en-US" b="1" dirty="0"/>
              <a:t>Financial Errors:</a:t>
            </a:r>
            <a:r>
              <a:rPr lang="en-US" dirty="0"/>
              <a:t> Manual commission calculations lead to revenue leakage.</a:t>
            </a:r>
          </a:p>
          <a:p>
            <a:r>
              <a:rPr lang="en-US" b="1" dirty="0"/>
              <a:t>No Transparency:</a:t>
            </a:r>
            <a:r>
              <a:rPr lang="en-US" dirty="0"/>
              <a:t> It is difficult for the owner to track which broker sold which item.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96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Objectives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General Objective: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To develop a secure, robust, and user-friendly </a:t>
            </a:r>
            <a:r>
              <a:rPr lang="en-US" b="1" dirty="0"/>
              <a:t>Rental and Sales Management System</a:t>
            </a:r>
            <a:r>
              <a:rPr lang="en-US" dirty="0"/>
              <a:t> that automates the daily workflow of a Broker Office.</a:t>
            </a:r>
          </a:p>
          <a:p>
            <a:r>
              <a:rPr lang="en-US" b="1" dirty="0"/>
              <a:t>Specific Objectives:</a:t>
            </a:r>
            <a:endParaRPr lang="en-US" dirty="0"/>
          </a:p>
          <a:p>
            <a:r>
              <a:rPr lang="en-US" b="1" dirty="0"/>
              <a:t>Security:</a:t>
            </a:r>
            <a:r>
              <a:rPr lang="en-US" dirty="0"/>
              <a:t> Implement Role-Based Login (Admin, Broker, Customer).</a:t>
            </a:r>
          </a:p>
          <a:p>
            <a:r>
              <a:rPr lang="en-US" b="1" dirty="0"/>
              <a:t>Inventory:</a:t>
            </a:r>
            <a:r>
              <a:rPr lang="en-US" dirty="0"/>
              <a:t> Enable digital registration of items with </a:t>
            </a:r>
            <a:r>
              <a:rPr lang="en-US" b="1" dirty="0"/>
              <a:t>Images</a:t>
            </a:r>
            <a:r>
              <a:rPr lang="en-US" dirty="0"/>
              <a:t> and </a:t>
            </a:r>
            <a:r>
              <a:rPr lang="en-US" b="1" dirty="0"/>
              <a:t>Prices</a:t>
            </a:r>
            <a:r>
              <a:rPr lang="en-US" dirty="0"/>
              <a:t>.</a:t>
            </a:r>
          </a:p>
          <a:p>
            <a:r>
              <a:rPr lang="en-US" b="1" dirty="0"/>
              <a:t>Search:</a:t>
            </a:r>
            <a:r>
              <a:rPr lang="en-US" dirty="0"/>
              <a:t> Develop a smart filtering system (by Name, Category, or Status).</a:t>
            </a:r>
          </a:p>
          <a:p>
            <a:r>
              <a:rPr lang="en-US" b="1" dirty="0"/>
              <a:t>Transactions:</a:t>
            </a:r>
            <a:r>
              <a:rPr lang="en-US" dirty="0"/>
              <a:t> Automate the "Deal Closing" process and generate digital </a:t>
            </a:r>
            <a:r>
              <a:rPr lang="en-US" b="1" dirty="0"/>
              <a:t>Receipts</a:t>
            </a:r>
            <a:r>
              <a:rPr lang="en-US" dirty="0"/>
              <a:t>.</a:t>
            </a:r>
          </a:p>
          <a:p>
            <a:r>
              <a:rPr lang="en-US" b="1" dirty="0"/>
              <a:t>Reporting:</a:t>
            </a:r>
            <a:r>
              <a:rPr lang="en-US" dirty="0"/>
              <a:t> Provide real-time revenue analytics for the Admin.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46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System Scope and User Roles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118872" indent="0">
              <a:buNone/>
            </a:pPr>
            <a:r>
              <a:rPr lang="en-US" b="1" dirty="0"/>
              <a:t>S</a:t>
            </a:r>
            <a:r>
              <a:rPr lang="en-US" b="1" dirty="0" smtClean="0"/>
              <a:t>ystem </a:t>
            </a:r>
            <a:r>
              <a:rPr lang="en-US" b="1" dirty="0"/>
              <a:t>Scope:</a:t>
            </a:r>
            <a:endParaRPr lang="en-US" dirty="0"/>
          </a:p>
          <a:p>
            <a:r>
              <a:rPr lang="en-US" b="1" dirty="0"/>
              <a:t>Platform:</a:t>
            </a:r>
            <a:r>
              <a:rPr lang="en-US" dirty="0"/>
              <a:t> Desktop Application (Java Swing).</a:t>
            </a:r>
          </a:p>
          <a:p>
            <a:r>
              <a:rPr lang="en-US" b="1" dirty="0"/>
              <a:t>Network:</a:t>
            </a:r>
            <a:r>
              <a:rPr lang="en-US" dirty="0"/>
              <a:t> Local Area Network (LAN) / Single Station.</a:t>
            </a:r>
          </a:p>
          <a:p>
            <a:r>
              <a:rPr lang="en-US" b="1" dirty="0"/>
              <a:t>Data:</a:t>
            </a:r>
            <a:r>
              <a:rPr lang="en-US" dirty="0"/>
              <a:t> Relational Database storage.</a:t>
            </a:r>
          </a:p>
          <a:p>
            <a:pPr marL="118872" indent="0">
              <a:buNone/>
            </a:pPr>
            <a:r>
              <a:rPr lang="en-US" b="1" dirty="0"/>
              <a:t>User Roles:</a:t>
            </a:r>
            <a:endParaRPr lang="en-US" dirty="0"/>
          </a:p>
          <a:p>
            <a:r>
              <a:rPr lang="en-US" b="1" dirty="0"/>
              <a:t>Admin (The Manager):</a:t>
            </a:r>
            <a:r>
              <a:rPr lang="en-US" dirty="0"/>
              <a:t> Has full control. Can add items, hire brokers, delete data, and view financial reports.</a:t>
            </a:r>
          </a:p>
          <a:p>
            <a:r>
              <a:rPr lang="en-US" b="1" dirty="0"/>
              <a:t>Broker (The Staff):</a:t>
            </a:r>
            <a:r>
              <a:rPr lang="en-US" dirty="0"/>
              <a:t> Can register customers, post new items, search inventory, and process transactions.</a:t>
            </a:r>
          </a:p>
          <a:p>
            <a:r>
              <a:rPr lang="en-US" b="1" dirty="0"/>
              <a:t>Customer (The Client):</a:t>
            </a:r>
            <a:r>
              <a:rPr lang="en-US" dirty="0"/>
              <a:t> Can browse the gallery, search for items, filter by status, and view item details (Zoom view).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6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Approach:</a:t>
            </a:r>
            <a:r>
              <a:rPr lang="en-US" dirty="0"/>
              <a:t> Object-Oriented Analysis and Design (OOAD).</a:t>
            </a:r>
          </a:p>
          <a:p>
            <a:r>
              <a:rPr lang="en-US" b="1" dirty="0"/>
              <a:t>Development Model:</a:t>
            </a:r>
            <a:r>
              <a:rPr lang="en-US" dirty="0"/>
              <a:t> Iterative Model (Design -&gt; Code -&gt; Test -&gt; Refine).</a:t>
            </a:r>
          </a:p>
          <a:p>
            <a:r>
              <a:rPr lang="en-US" b="1" dirty="0"/>
              <a:t>Architecture Pattern:</a:t>
            </a:r>
            <a:r>
              <a:rPr lang="en-US" dirty="0"/>
              <a:t> Layered Architecture.</a:t>
            </a:r>
          </a:p>
          <a:p>
            <a:pPr lvl="1"/>
            <a:r>
              <a:rPr lang="en-US" b="1" dirty="0"/>
              <a:t>Presentation Layer:</a:t>
            </a:r>
            <a:r>
              <a:rPr lang="en-US" dirty="0"/>
              <a:t> The User Interface (Windows/Forms).</a:t>
            </a:r>
          </a:p>
          <a:p>
            <a:pPr lvl="1"/>
            <a:r>
              <a:rPr lang="en-US" b="1" dirty="0"/>
              <a:t>Business Logic Layer:</a:t>
            </a:r>
            <a:r>
              <a:rPr lang="en-US" dirty="0"/>
              <a:t> Java Classes handling the rules.</a:t>
            </a:r>
          </a:p>
          <a:p>
            <a:pPr lvl="1"/>
            <a:r>
              <a:rPr lang="en-US" b="1" dirty="0"/>
              <a:t>Data Access Layer:</a:t>
            </a:r>
            <a:r>
              <a:rPr lang="en-US" dirty="0"/>
              <a:t> JDBC handling database connections.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28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System Architecture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062239"/>
              </p:ext>
            </p:extLst>
          </p:nvPr>
        </p:nvGraphicFramePr>
        <p:xfrm>
          <a:off x="457200" y="1774825"/>
          <a:ext cx="8229600" cy="3940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095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Design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18872" indent="0">
              <a:buNone/>
            </a:pPr>
            <a:r>
              <a:rPr lang="en-US" dirty="0"/>
              <a:t>Our system relies on three core relational tables:</a:t>
            </a:r>
          </a:p>
          <a:p>
            <a:r>
              <a:rPr lang="en-US" b="1" dirty="0"/>
              <a:t>users Table:</a:t>
            </a:r>
            <a:endParaRPr lang="en-US" dirty="0"/>
          </a:p>
          <a:p>
            <a:pPr lvl="1"/>
            <a:r>
              <a:rPr lang="en-US" dirty="0"/>
              <a:t>Stores: </a:t>
            </a:r>
            <a:r>
              <a:rPr lang="en-US" dirty="0" err="1"/>
              <a:t>user_id</a:t>
            </a:r>
            <a:r>
              <a:rPr lang="en-US" dirty="0"/>
              <a:t>, username, password, role, phone.</a:t>
            </a:r>
          </a:p>
          <a:p>
            <a:pPr lvl="1"/>
            <a:r>
              <a:rPr lang="en-US" dirty="0"/>
              <a:t>Purpose: Handles authentication and staff details.</a:t>
            </a:r>
          </a:p>
          <a:p>
            <a:r>
              <a:rPr lang="en-US" b="1" dirty="0"/>
              <a:t>items Table:</a:t>
            </a:r>
            <a:endParaRPr lang="en-US" dirty="0"/>
          </a:p>
          <a:p>
            <a:pPr lvl="1"/>
            <a:r>
              <a:rPr lang="en-US" dirty="0"/>
              <a:t>Stores: </a:t>
            </a:r>
            <a:r>
              <a:rPr lang="en-US" dirty="0" err="1"/>
              <a:t>item_id</a:t>
            </a:r>
            <a:r>
              <a:rPr lang="en-US" dirty="0"/>
              <a:t>, price, </a:t>
            </a:r>
            <a:r>
              <a:rPr lang="en-US" dirty="0" err="1"/>
              <a:t>image_path</a:t>
            </a:r>
            <a:r>
              <a:rPr lang="en-US" dirty="0"/>
              <a:t>, status (Available/Taken), </a:t>
            </a:r>
            <a:r>
              <a:rPr lang="en-US" dirty="0" err="1"/>
              <a:t>contact_phone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Purpose: The central inventory.</a:t>
            </a:r>
          </a:p>
          <a:p>
            <a:r>
              <a:rPr lang="en-US" b="1" dirty="0"/>
              <a:t>transactions Table:</a:t>
            </a:r>
            <a:endParaRPr lang="en-US" dirty="0"/>
          </a:p>
          <a:p>
            <a:pPr lvl="1"/>
            <a:r>
              <a:rPr lang="en-US" dirty="0"/>
              <a:t>Stores: </a:t>
            </a:r>
            <a:r>
              <a:rPr lang="en-US" dirty="0" err="1"/>
              <a:t>transaction_id</a:t>
            </a:r>
            <a:r>
              <a:rPr lang="en-US" dirty="0"/>
              <a:t>, date, </a:t>
            </a:r>
            <a:r>
              <a:rPr lang="en-US" dirty="0" err="1"/>
              <a:t>final_price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Foreign Keys:</a:t>
            </a:r>
            <a:r>
              <a:rPr lang="en-US" dirty="0"/>
              <a:t> Links to </a:t>
            </a:r>
            <a:r>
              <a:rPr lang="en-US" dirty="0" err="1"/>
              <a:t>customer_id</a:t>
            </a:r>
            <a:r>
              <a:rPr lang="en-US" dirty="0"/>
              <a:t>, </a:t>
            </a:r>
            <a:r>
              <a:rPr lang="en-US" dirty="0" err="1"/>
              <a:t>broker_id</a:t>
            </a:r>
            <a:r>
              <a:rPr lang="en-US" dirty="0"/>
              <a:t>, and </a:t>
            </a:r>
            <a:r>
              <a:rPr lang="en-US" dirty="0" err="1"/>
              <a:t>item_id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Purpose: Financial history and receipt generation.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93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Implementation Tools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Programming Language:</a:t>
            </a:r>
            <a:r>
              <a:rPr lang="en-US" dirty="0"/>
              <a:t> Java (JDK 8+).</a:t>
            </a:r>
          </a:p>
          <a:p>
            <a:r>
              <a:rPr lang="en-US" b="1" dirty="0"/>
              <a:t>Integrated Development Environment (IDE):</a:t>
            </a:r>
            <a:r>
              <a:rPr lang="en-US" dirty="0"/>
              <a:t> </a:t>
            </a:r>
            <a:r>
              <a:rPr lang="en-US" dirty="0" err="1"/>
              <a:t>NetBeans</a:t>
            </a:r>
            <a:r>
              <a:rPr lang="en-US" dirty="0"/>
              <a:t> 8.2 / 12+.</a:t>
            </a:r>
          </a:p>
          <a:p>
            <a:r>
              <a:rPr lang="en-US" b="1" dirty="0"/>
              <a:t>Database Engine:</a:t>
            </a:r>
            <a:r>
              <a:rPr lang="en-US" dirty="0"/>
              <a:t> MySQL (via XAMPP Server).</a:t>
            </a:r>
          </a:p>
          <a:p>
            <a:r>
              <a:rPr lang="en-US" b="1" dirty="0"/>
              <a:t>GUI Framework:</a:t>
            </a:r>
            <a:r>
              <a:rPr lang="en-US" dirty="0"/>
              <a:t> Java Swing (with Nimbus Look &amp; Feel for modern UI).</a:t>
            </a:r>
          </a:p>
          <a:p>
            <a:r>
              <a:rPr lang="en-US" b="1" dirty="0"/>
              <a:t>Connectivity:</a:t>
            </a:r>
            <a:r>
              <a:rPr lang="en-US" dirty="0"/>
              <a:t> MySQL JDBC Driver (Connector/J).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36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 - Login &amp; Security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Feature:</a:t>
            </a:r>
            <a:r>
              <a:rPr lang="en-US" sz="2400" dirty="0"/>
              <a:t> Split-screen professional UI.</a:t>
            </a:r>
          </a:p>
          <a:p>
            <a:r>
              <a:rPr lang="en-US" sz="2400" b="1" dirty="0"/>
              <a:t>Security:</a:t>
            </a:r>
            <a:r>
              <a:rPr lang="en-US" sz="2400" dirty="0"/>
              <a:t> Validates credentials against the MySQL database.</a:t>
            </a:r>
          </a:p>
          <a:p>
            <a:r>
              <a:rPr lang="en-US" sz="2400" b="1" dirty="0"/>
              <a:t>Routing:</a:t>
            </a:r>
            <a:r>
              <a:rPr lang="en-US" sz="2400" dirty="0"/>
              <a:t> Automatically opens the correct dashboard (Admin vs. Customer) based on the user's role.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3411682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2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 - Inventory &amp; Photos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Feature:</a:t>
            </a:r>
            <a:r>
              <a:rPr lang="en-US" sz="2800" dirty="0"/>
              <a:t> Admin and Brokers can upload items.</a:t>
            </a:r>
          </a:p>
          <a:p>
            <a:r>
              <a:rPr lang="en-US" sz="2800" b="1" dirty="0"/>
              <a:t>Capability:</a:t>
            </a:r>
            <a:r>
              <a:rPr lang="en-US" sz="2800" dirty="0"/>
              <a:t> Supports image selection from the PC.</a:t>
            </a:r>
          </a:p>
          <a:p>
            <a:r>
              <a:rPr lang="en-US" sz="2800" b="1" dirty="0"/>
              <a:t>Data Handling:</a:t>
            </a:r>
            <a:r>
              <a:rPr lang="en-US" sz="2800" dirty="0"/>
              <a:t> Images are copied to the system folder; text data is saved to SQL.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7600"/>
            <a:ext cx="9144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0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dirty="0"/>
              <a:t>Demo - Search &amp; Filtering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Feature:</a:t>
            </a:r>
            <a:r>
              <a:rPr lang="en-US" sz="2400" dirty="0"/>
              <a:t> Customers can filter the gallery.</a:t>
            </a:r>
          </a:p>
          <a:p>
            <a:r>
              <a:rPr lang="en-US" sz="2000" b="1" dirty="0"/>
              <a:t>Logic</a:t>
            </a:r>
            <a:r>
              <a:rPr lang="en-US" sz="2400" b="1" dirty="0"/>
              <a:t>:</a:t>
            </a:r>
            <a:endParaRPr lang="en-US" sz="2400" dirty="0"/>
          </a:p>
          <a:p>
            <a:pPr lvl="1"/>
            <a:r>
              <a:rPr lang="en-US" sz="2000" i="1" dirty="0"/>
              <a:t>Search:</a:t>
            </a:r>
            <a:r>
              <a:rPr lang="en-US" sz="2000" dirty="0"/>
              <a:t> Filters by Name or Category.</a:t>
            </a:r>
          </a:p>
          <a:p>
            <a:pPr lvl="1"/>
            <a:r>
              <a:rPr lang="en-US" sz="2000" i="1" dirty="0"/>
              <a:t>Status:</a:t>
            </a:r>
            <a:r>
              <a:rPr lang="en-US" sz="2000" dirty="0"/>
              <a:t> Filters by "Available" </a:t>
            </a:r>
            <a:r>
              <a:rPr lang="en-US" sz="2000" dirty="0" err="1"/>
              <a:t>vs</a:t>
            </a:r>
            <a:r>
              <a:rPr lang="en-US" sz="2000" dirty="0"/>
              <a:t> "Sold".</a:t>
            </a:r>
          </a:p>
          <a:p>
            <a:r>
              <a:rPr lang="en-US" sz="2400" b="1" dirty="0"/>
              <a:t>UX:</a:t>
            </a:r>
            <a:r>
              <a:rPr lang="en-US" sz="2400" dirty="0"/>
              <a:t> Items appear as clickable Cards with visual previews.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733800"/>
            <a:ext cx="8077200" cy="281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8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Transactions &amp; Receipts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Process:</a:t>
            </a:r>
            <a:r>
              <a:rPr lang="en-US" sz="2800" dirty="0"/>
              <a:t> Broker selects a Customer and an Item -&gt; Clicks "Confirm".</a:t>
            </a:r>
          </a:p>
          <a:p>
            <a:r>
              <a:rPr lang="en-US" sz="2800" b="1" dirty="0"/>
              <a:t>Automation:</a:t>
            </a:r>
            <a:endParaRPr lang="en-US" sz="2800" dirty="0"/>
          </a:p>
          <a:p>
            <a:pPr lvl="1"/>
            <a:r>
              <a:rPr lang="en-US" sz="2400" dirty="0"/>
              <a:t>Item status changes to </a:t>
            </a:r>
            <a:r>
              <a:rPr lang="en-US" sz="2400" b="1" dirty="0"/>
              <a:t>"Taken"</a:t>
            </a:r>
            <a:r>
              <a:rPr lang="en-US" sz="2400" dirty="0"/>
              <a:t> (Red) in the database.</a:t>
            </a:r>
          </a:p>
          <a:p>
            <a:pPr lvl="1"/>
            <a:r>
              <a:rPr lang="en-US" sz="2400" dirty="0"/>
              <a:t>Transaction is recorded in the history table.</a:t>
            </a:r>
          </a:p>
          <a:p>
            <a:pPr marL="118872" indent="0">
              <a:buNone/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038601"/>
            <a:ext cx="74676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8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 </a:t>
            </a:r>
            <a:r>
              <a:rPr lang="en-US" b="1" dirty="0"/>
              <a:t>Group 4 Broker System</a:t>
            </a:r>
            <a:r>
              <a:rPr lang="en-US" dirty="0"/>
              <a:t> has successfully met all design requirements:</a:t>
            </a:r>
          </a:p>
          <a:p>
            <a:r>
              <a:rPr lang="en-US" dirty="0"/>
              <a:t>✔ </a:t>
            </a:r>
            <a:r>
              <a:rPr lang="en-US" b="1" dirty="0"/>
              <a:t>Centralized Data:</a:t>
            </a:r>
            <a:r>
              <a:rPr lang="en-US" dirty="0"/>
              <a:t> No more data loss or redundancy.</a:t>
            </a:r>
          </a:p>
          <a:p>
            <a:r>
              <a:rPr lang="en-US" dirty="0"/>
              <a:t>✔ </a:t>
            </a:r>
            <a:r>
              <a:rPr lang="en-US" b="1" dirty="0"/>
              <a:t>Efficiency:</a:t>
            </a:r>
            <a:r>
              <a:rPr lang="en-US" dirty="0"/>
              <a:t> Search time reduced from minutes to seconds.</a:t>
            </a:r>
          </a:p>
          <a:p>
            <a:r>
              <a:rPr lang="en-US" dirty="0"/>
              <a:t>✔ </a:t>
            </a:r>
            <a:r>
              <a:rPr lang="en-US" b="1" dirty="0"/>
              <a:t>Modern UI:</a:t>
            </a:r>
            <a:r>
              <a:rPr lang="en-US" dirty="0"/>
              <a:t> Visual gallery experience for customers.</a:t>
            </a:r>
          </a:p>
          <a:p>
            <a:r>
              <a:rPr lang="en-US" dirty="0"/>
              <a:t>✔ </a:t>
            </a:r>
            <a:r>
              <a:rPr lang="en-US" b="1" dirty="0"/>
              <a:t>Financial Integrity:</a:t>
            </a:r>
            <a:r>
              <a:rPr lang="en-US" dirty="0"/>
              <a:t> Automated revenue tracking and receipts.</a:t>
            </a:r>
          </a:p>
          <a:p>
            <a:r>
              <a:rPr lang="en-US" dirty="0"/>
              <a:t>This project demonstrates the power of OOP principles in solving real-world business problems.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51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Recommendations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further enhance this system in the future, we recommend:</a:t>
            </a:r>
          </a:p>
          <a:p>
            <a:r>
              <a:rPr lang="en-US" b="1" dirty="0"/>
              <a:t>Cloud Migration:</a:t>
            </a:r>
            <a:r>
              <a:rPr lang="en-US" dirty="0"/>
              <a:t> Moving the database to a cloud server for multi-branch access.</a:t>
            </a:r>
          </a:p>
          <a:p>
            <a:r>
              <a:rPr lang="en-US" b="1" dirty="0"/>
              <a:t>Mobile App:</a:t>
            </a:r>
            <a:r>
              <a:rPr lang="en-US" dirty="0"/>
              <a:t> Developing an Android version for customers.</a:t>
            </a:r>
          </a:p>
          <a:p>
            <a:r>
              <a:rPr lang="en-US" b="1" dirty="0"/>
              <a:t>GPS Integration:</a:t>
            </a:r>
            <a:r>
              <a:rPr lang="en-US" dirty="0"/>
              <a:t> Adding Google Maps to show property locations.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92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5400" b="1" dirty="0" smtClean="0"/>
          </a:p>
          <a:p>
            <a:pPr algn="ctr"/>
            <a:endParaRPr lang="en-US" sz="5400" b="1" dirty="0"/>
          </a:p>
          <a:p>
            <a:pPr algn="ctr"/>
            <a:r>
              <a:rPr lang="en-US" sz="5400" b="1" dirty="0" smtClean="0"/>
              <a:t>Thank </a:t>
            </a:r>
            <a:r>
              <a:rPr lang="en-US" sz="5400" b="1" dirty="0"/>
              <a:t>You</a:t>
            </a:r>
            <a:r>
              <a:rPr lang="en-US" sz="5400" b="1" dirty="0" smtClean="0"/>
              <a:t>!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00659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44</TotalTime>
  <Words>138</Words>
  <Application>Microsoft Office PowerPoint</Application>
  <PresentationFormat>On-screen Show (4:3)</PresentationFormat>
  <Paragraphs>99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Module</vt:lpstr>
      <vt:lpstr>Broker office system    </vt:lpstr>
      <vt:lpstr>Background of the Project </vt:lpstr>
      <vt:lpstr>Statement of the Problem </vt:lpstr>
      <vt:lpstr> Objectives </vt:lpstr>
      <vt:lpstr>System Scope and User Roles</vt:lpstr>
      <vt:lpstr>Methodology </vt:lpstr>
      <vt:lpstr>System Architecture </vt:lpstr>
      <vt:lpstr>Database Design </vt:lpstr>
      <vt:lpstr> Implementation Tools </vt:lpstr>
      <vt:lpstr>Demo - Login &amp; Security </vt:lpstr>
      <vt:lpstr>Demo - Inventory &amp; Photos </vt:lpstr>
      <vt:lpstr> Demo - Search &amp; Filtering </vt:lpstr>
      <vt:lpstr>Transactions &amp; Receipts</vt:lpstr>
      <vt:lpstr>Conclusion </vt:lpstr>
      <vt:lpstr>Recommendations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6</cp:revision>
  <dcterms:created xsi:type="dcterms:W3CDTF">2026-01-20T21:49:14Z</dcterms:created>
  <dcterms:modified xsi:type="dcterms:W3CDTF">2026-02-17T06:21:52Z</dcterms:modified>
</cp:coreProperties>
</file>